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365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365D"/>
                </a:solidFill>
                <a:latin typeface="Arial"/>
              </a:rPr>
              <a:t>Sales by category (₹ Cr)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 Cr)</c:v>
                </c:pt>
              </c:strCache>
            </c:strRef>
          </c:tx>
          <c:spPr>
            <a:solidFill>
              <a:srgbClr val="1B36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Technology</c:v>
                  </c:pt>
                  <c:pt idx="1">
                    <c:v>Furniture</c:v>
                  </c:pt>
                  <c:pt idx="2">
                    <c:v>Office Supplies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39.38</c:v>
                </c:pt>
                <c:pt idx="1">
                  <c:v>34.12</c:v>
                </c:pt>
                <c:pt idx="2">
                  <c:v>31.43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F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365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365D"/>
                </a:solidFill>
                <a:latin typeface="Arial"/>
              </a:rPr>
              <a:t>Segment share of sales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65D"/>
              </a:solidFill>
              <a:effectLst/>
            </c:spPr>
          </c:dPt>
          <c:dPt>
            <c:idx val="1"/>
            <c:bubble3D val="0"/>
            <c:spPr>
              <a:solidFill>
                <a:srgbClr val="2F80ED"/>
              </a:solidFill>
              <a:effectLst/>
            </c:spPr>
          </c:dPt>
          <c:dPt>
            <c:idx val="2"/>
            <c:bubble3D val="0"/>
            <c:spPr>
              <a:solidFill>
                <a:srgbClr val="12A59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51.5</c:v>
                </c:pt>
                <c:pt idx="1">
                  <c:v>30.3</c:v>
                </c:pt>
                <c:pt idx="2">
                  <c:v>18.3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365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365D"/>
                </a:solidFill>
                <a:latin typeface="Arial"/>
              </a:rPr>
              <a:t>Profit margin by discount band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(%)</c:v>
                </c:pt>
              </c:strCache>
            </c:strRef>
          </c:tx>
          <c:spPr>
            <a:solidFill>
              <a:srgbClr val="2F80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 discount</c:v>
                  </c:pt>
                  <c:pt idx="1">
                    <c:v>Up to 5%</c:v>
                  </c:pt>
                  <c:pt idx="2">
                    <c:v>5-10%</c:v>
                  </c:pt>
                  <c:pt idx="3">
                    <c:v>10-15%</c:v>
                  </c:pt>
                  <c:pt idx="4">
                    <c:v>15-20%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11.1</c:v>
                </c:pt>
                <c:pt idx="1">
                  <c:v>11.9</c:v>
                </c:pt>
                <c:pt idx="2">
                  <c:v>12.5</c:v>
                </c:pt>
                <c:pt idx="3">
                  <c:v>11.4</c:v>
                </c:pt>
                <c:pt idx="4">
                  <c:v>10.4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F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365D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365D"/>
                </a:solidFill>
                <a:latin typeface="Arial"/>
              </a:rPr>
              <a:t>Profit by region and manager (₹ Cr)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(₹ Cr)</c:v>
                </c:pt>
              </c:strCache>
            </c:strRef>
          </c:tx>
          <c:spPr>
            <a:solidFill>
              <a:srgbClr val="1B36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Central (Nithin Chaturvedi)</c:v>
                  </c:pt>
                  <c:pt idx="1">
                    <c:v>West (Pragya Rathi)</c:v>
                  </c:pt>
                  <c:pt idx="2">
                    <c:v>South (Harish Deshmukh)</c:v>
                  </c:pt>
                  <c:pt idx="3">
                    <c:v>East (Yash Srivastava)</c:v>
                  </c:pt>
                  <c:pt idx="4">
                    <c:v>North (Aniket Sharma)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1.21</c:v>
                </c:pt>
                <c:pt idx="1">
                  <c:v>1.58</c:v>
                </c:pt>
                <c:pt idx="2">
                  <c:v>2.83</c:v>
                </c:pt>
                <c:pt idx="3">
                  <c:v>2.87</c:v>
                </c:pt>
                <c:pt idx="4">
                  <c:v>3.69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3F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914400"/>
            <a:ext cx="3840480" cy="3840480"/>
          </a:xfrm>
          <a:prstGeom prst="ellipse">
            <a:avLst/>
          </a:prstGeom>
          <a:solidFill>
            <a:srgbClr val="12A594">
              <a:alpha val="45000"/>
            </a:srgbClr>
          </a:solidFill>
          <a:ln w="12700">
            <a:solidFill>
              <a:srgbClr val="12A594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017520"/>
            <a:ext cx="2377440" cy="2377440"/>
          </a:xfrm>
          <a:prstGeom prst="ellipse">
            <a:avLst/>
          </a:prstGeom>
          <a:solidFill>
            <a:srgbClr val="2F80ED">
              <a:alpha val="40000"/>
            </a:srgbClr>
          </a:solidFill>
          <a:ln w="12700">
            <a:solidFill>
              <a:srgbClr val="2F80ED">
                <a:alpha val="4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RLS-Enabled Regional Sales &amp; Profit Analytics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insights and recommendations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Superstore data, Jan 2023 to Dec 2025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Snapshot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₹104.93 Cr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78608" y="10515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578608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₹12.18 Cr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578608" y="1737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0016" y="10515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00016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11.6%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700016" y="1737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21424" y="10515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21424" y="1188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51,236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821424" y="17373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56032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26517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retail data: 51,284 clean order lines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invalid 2012 rows removed; blank Postal Code dropped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states, 56 cities, 5 regions, 945 customers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categories: Furniture, Office Supplies, Technology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56032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846320" y="26517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Discount Impact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&amp; Manager View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&amp; DAX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88720" y="105156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10515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Table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(dimension)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88720" y="246888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1B365D"/>
          </a:solidFill>
          <a:ln w="12700">
            <a:solidFill>
              <a:srgbClr val="1B365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24688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(fact table)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88720" y="4069080"/>
            <a:ext cx="1828800" cy="685800"/>
          </a:xfrm>
          <a:prstGeom prst="roundRect">
            <a:avLst>
              <a:gd name="adj" fmla="val 10667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4069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(dimension)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03120" y="1737360"/>
            <a:ext cx="0" cy="731520"/>
          </a:xfrm>
          <a:prstGeom prst="line">
            <a:avLst/>
          </a:prstGeom>
          <a:noFill/>
          <a:ln w="19050">
            <a:solidFill>
              <a:srgbClr val="8A93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3337560"/>
            <a:ext cx="0" cy="731520"/>
          </a:xfrm>
          <a:prstGeom prst="line">
            <a:avLst/>
          </a:prstGeom>
          <a:noFill/>
          <a:ln w="19050">
            <a:solidFill>
              <a:srgbClr val="8A9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5"/>
                </a:solidFill>
              </a:rPr>
              <a:t>Date[Date] 1 → * Orders[Order Date]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5"/>
                </a:solidFill>
              </a:rPr>
              <a:t>Zone[Region] 1 → * Orders[Region]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1097280"/>
          <a:ext cx="44805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DAX 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SUM(Orders[Sales])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SUM(Orders[Profit])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DIVIDE([Total Profit],[Total Sales],0)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DISTINCTCOUNT(Orders[Order ID])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AVERAGE(Orders[Discount])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Delivery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AVERAGE(Orders[Delivery Days])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Overview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4114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846320" y="105156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029200" y="1124712"/>
            <a:ext cx="34747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category: Technology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₹39.4 Cr sales, 14.0% margin; Furniture margin is only 6.9%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846320" y="228600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029200" y="2359152"/>
            <a:ext cx="34747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states: Assam, Madhya Pradesh, Kerala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₹5.1 Cr each; the top 5 states make only 24% of sales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352044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029200" y="3593592"/>
            <a:ext cx="34747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Seasonal, with flat growth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and Dec peak (10.9% each); Jan and Feb are weakest; yearly sales about -1%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Insights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35661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051560"/>
          <a:ext cx="4389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value 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(₹ lakh)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(₹ lakh)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Sana Bhattacharya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Siddharth Bhattacharya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Nikhil Ghosh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Lokesh Nair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Nikhil Sharma (top sales)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548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297680" y="3337560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4480560" y="3410712"/>
            <a:ext cx="40233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drives 51.5% of sales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margins are alike (11.5% to 12.0%). The top 10 customers make only 2.3% of sales, and 84 of 945 customers are unprofitable.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Discount Impact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4114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846320" y="105156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029200" y="1124712"/>
            <a:ext cx="34747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discounts reduce margin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falls from 12.5% (5-10%) to 10.4% (15-20%); product-level effect is weak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846320" y="228600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029200" y="2359152"/>
            <a:ext cx="34747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loss-making product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- India loses about ₹0.53 Cr (-8.5%) at a normal discount, so cost or pricing is the issue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352044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029200" y="3593592"/>
            <a:ext cx="34747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is slow and uniform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 days in every ship mode and flat by year; 19% of orders take over 25 days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 &amp; Manager View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4297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029200" y="105156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212080" y="1124712"/>
            <a:ext cx="32918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North, Aniket Sharma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 (₹3.69 Cr). Central has the best margin (12.6%) but is the smallest region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0" y="228600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212080" y="2359152"/>
            <a:ext cx="32918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territories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States: Uttar Pradesh, Delhi, Karnataka, Rajasthan (about 10%). Cities: Agra 6.2%, Hubli 6.5%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0" y="352044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212080" y="3593592"/>
            <a:ext cx="32918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profit is declining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₹1.36 Cr (2023), ₹1.24 Cr (2024), ₹1.09 Cr (2025)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6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Features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Row-Level Security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roles, one per Regional Manager, filtering Zone[Region Manager]. Each manager sees only their own region; tested with View as.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34440"/>
            <a:ext cx="384048" cy="384048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234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7373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View and Sales View bookmarks with buttons switch the manager chart on the Regions page; navigation buttons link all pages.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063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661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 (from Customer Insights) and Region Details (from Regions) open a filtered page for the selected customer or region.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DE2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3063240"/>
            <a:ext cx="384048" cy="384048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3063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6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tooltips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5661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customer charts for sales, profit and orders; over product visuals for sales, profit, profit % and discount %.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24712"/>
            <a:ext cx="384048" cy="384048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105156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Technology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sales and best margin (14.0%)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56232"/>
            <a:ext cx="384048" cy="384048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56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78308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Furniture pricing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Tables - India: a loss of about ₹0.53 Cr drags margin to 6.9%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87752"/>
            <a:ext cx="384048" cy="384048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51460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seasonality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and campaign for Aug to Dec; run promotions in Jan and Feb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319272"/>
            <a:ext cx="384048" cy="384048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319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24612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delivery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of orders take over 25 days; premium ship modes are no faster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050792"/>
            <a:ext cx="384048" cy="384048"/>
          </a:xfrm>
          <a:prstGeom prst="ellipse">
            <a:avLst/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9776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weak territories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Agra, Hubli, Uttar Pradesh, Karnataka; reverse North profit decline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2026-10-03T16:37:29Z</dcterms:created>
  <dcterms:modified xsi:type="dcterms:W3CDTF">2026-10-03T16:37:29Z</dcterms:modified>
</cp:coreProperties>
</file>